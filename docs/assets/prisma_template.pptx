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058400" cy="10972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8961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2314F"/>
                </a:solidFill>
                <a:latin typeface="Montserrat"/>
              </a:rPr>
              <a:t>{{TITULO}}</a:t>
            </a:r>
          </a:p>
          <a:p>
            <a:r>
              <a:rPr sz="1100">
                <a:solidFill>
                  <a:srgbClr val="6B7280"/>
                </a:solidFill>
                <a:latin typeface="Montserrat"/>
              </a:rPr>
              <a:t>Diagrama de flujo PRISMA 2020 — fase de identificación generada automáticamente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05840" y="1188720"/>
            <a:ext cx="3931920" cy="1371600"/>
          </a:xfrm>
          <a:prstGeom prst="rect">
            <a:avLst/>
          </a:prstGeom>
          <a:solidFill>
            <a:srgbClr val="EEF2F7"/>
          </a:solidFill>
          <a:ln w="15875">
            <a:solidFill>
              <a:srgbClr val="1D6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200" b="1">
                <a:solidFill>
                  <a:srgbClr val="1F2933"/>
                </a:solidFill>
                <a:latin typeface="Montserrat"/>
              </a:rPr>
              <a:t>Registros identificados de bases de datos</a:t>
            </a:r>
          </a:p>
          <a:p>
            <a:pPr algn="l"/>
            <a:r>
              <a:rPr sz="1100" b="0">
                <a:solidFill>
                  <a:srgbClr val="1F2933"/>
                </a:solidFill>
                <a:latin typeface="Montserrat"/>
              </a:rPr>
              <a:t>Total (n = {{N_TOTAL}})</a:t>
            </a:r>
          </a:p>
          <a:p>
            <a:pPr algn="l"/>
            <a:r>
              <a:rPr sz="1100" b="0">
                <a:solidFill>
                  <a:srgbClr val="1F2933"/>
                </a:solidFill>
                <a:latin typeface="Montserrat"/>
              </a:rPr>
              <a:t>{{SRC_SUMMARY}}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0" y="1188720"/>
            <a:ext cx="3931920" cy="1371600"/>
          </a:xfrm>
          <a:prstGeom prst="rect">
            <a:avLst/>
          </a:prstGeom>
          <a:solidFill>
            <a:srgbClr val="EEF2F7"/>
          </a:solidFill>
          <a:ln w="15875">
            <a:solidFill>
              <a:srgbClr val="1D6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200" b="1">
                <a:solidFill>
                  <a:srgbClr val="1F2933"/>
                </a:solidFill>
                <a:latin typeface="Montserrat"/>
              </a:rPr>
              <a:t>Registros eliminados antes del cribado:</a:t>
            </a:r>
          </a:p>
          <a:p>
            <a:pPr algn="l"/>
            <a:r>
              <a:rPr sz="1100" b="0">
                <a:solidFill>
                  <a:srgbClr val="1F2933"/>
                </a:solidFill>
                <a:latin typeface="Montserrat"/>
              </a:rPr>
              <a:t>Duplicados eliminados (n = {{N_DUP}})</a:t>
            </a:r>
          </a:p>
          <a:p>
            <a:pPr algn="l"/>
            <a:r>
              <a:rPr sz="1100" b="0">
                <a:solidFill>
                  <a:srgbClr val="1F2933"/>
                </a:solidFill>
                <a:latin typeface="Montserrat"/>
              </a:rPr>
              <a:t>Marcados no elegibles por automatización (n = 0)</a:t>
            </a:r>
          </a:p>
          <a:p>
            <a:pPr algn="l"/>
            <a:r>
              <a:rPr sz="1100" b="0">
                <a:solidFill>
                  <a:srgbClr val="1F2933"/>
                </a:solidFill>
                <a:latin typeface="Montserrat"/>
              </a:rPr>
              <a:t>Eliminados por otros motivos (n = 0)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937760" y="1874519"/>
            <a:ext cx="731520" cy="0"/>
          </a:xfrm>
          <a:prstGeom prst="line">
            <a:avLst/>
          </a:prstGeom>
          <a:ln w="1587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971800" y="2560320"/>
            <a:ext cx="0" cy="457200"/>
          </a:xfrm>
          <a:prstGeom prst="line">
            <a:avLst/>
          </a:prstGeom>
          <a:ln w="1587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005840" y="3017520"/>
            <a:ext cx="3931920" cy="822960"/>
          </a:xfrm>
          <a:prstGeom prst="rect">
            <a:avLst/>
          </a:prstGeom>
          <a:solidFill>
            <a:srgbClr val="EEF2F7"/>
          </a:solidFill>
          <a:ln w="15875">
            <a:solidFill>
              <a:srgbClr val="1D6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200" b="1">
                <a:solidFill>
                  <a:srgbClr val="1F2933"/>
                </a:solidFill>
                <a:latin typeface="Montserrat"/>
              </a:rPr>
              <a:t>Registros cribados</a:t>
            </a:r>
          </a:p>
          <a:p>
            <a:pPr algn="l"/>
            <a:r>
              <a:rPr sz="1100" b="0">
                <a:solidFill>
                  <a:srgbClr val="1F2933"/>
                </a:solidFill>
                <a:latin typeface="Montserrat"/>
              </a:rPr>
              <a:t>(n = {{N_SCREENED}})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3017520"/>
            <a:ext cx="3931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200" b="1">
                <a:solidFill>
                  <a:srgbClr val="12314F"/>
                </a:solidFill>
                <a:latin typeface="Montserrat"/>
              </a:rPr>
              <a:t>Registros excluidos</a:t>
            </a:r>
          </a:p>
          <a:p>
            <a:pPr algn="l"/>
            <a:r>
              <a:rPr sz="1100" b="0">
                <a:solidFill>
                  <a:srgbClr val="6B7280"/>
                </a:solidFill>
                <a:latin typeface="Montserrat"/>
              </a:rPr>
              <a:t>(n = ____)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937760" y="3429000"/>
            <a:ext cx="731520" cy="0"/>
          </a:xfrm>
          <a:prstGeom prst="line">
            <a:avLst/>
          </a:prstGeom>
          <a:ln w="1587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971800" y="3840480"/>
            <a:ext cx="0" cy="457199"/>
          </a:xfrm>
          <a:prstGeom prst="line">
            <a:avLst/>
          </a:prstGeom>
          <a:ln w="1587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005840" y="4297679"/>
            <a:ext cx="3931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200" b="1">
                <a:solidFill>
                  <a:srgbClr val="12314F"/>
                </a:solidFill>
                <a:latin typeface="Montserrat"/>
              </a:rPr>
              <a:t>Publicaciones buscadas para recuperación</a:t>
            </a:r>
          </a:p>
          <a:p>
            <a:pPr algn="l"/>
            <a:r>
              <a:rPr sz="1100" b="0">
                <a:solidFill>
                  <a:srgbClr val="6B7280"/>
                </a:solidFill>
                <a:latin typeface="Montserrat"/>
              </a:rPr>
              <a:t>(n = ____)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0" y="4297679"/>
            <a:ext cx="3931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200" b="1">
                <a:solidFill>
                  <a:srgbClr val="12314F"/>
                </a:solidFill>
                <a:latin typeface="Montserrat"/>
              </a:rPr>
              <a:t>Publicaciones no recuperadas</a:t>
            </a:r>
          </a:p>
          <a:p>
            <a:pPr algn="l"/>
            <a:r>
              <a:rPr sz="1100" b="0">
                <a:solidFill>
                  <a:srgbClr val="6B7280"/>
                </a:solidFill>
                <a:latin typeface="Montserrat"/>
              </a:rPr>
              <a:t>(n = ____)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937760" y="4709159"/>
            <a:ext cx="731520" cy="0"/>
          </a:xfrm>
          <a:prstGeom prst="line">
            <a:avLst/>
          </a:prstGeom>
          <a:ln w="1587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971800" y="5120640"/>
            <a:ext cx="0" cy="457200"/>
          </a:xfrm>
          <a:prstGeom prst="line">
            <a:avLst/>
          </a:prstGeom>
          <a:ln w="1587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05840" y="5577840"/>
            <a:ext cx="3931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200" b="1">
                <a:solidFill>
                  <a:srgbClr val="12314F"/>
                </a:solidFill>
                <a:latin typeface="Montserrat"/>
              </a:rPr>
              <a:t>Publicaciones evaluadas para elegibilidad</a:t>
            </a:r>
          </a:p>
          <a:p>
            <a:pPr algn="l"/>
            <a:r>
              <a:rPr sz="1100" b="0">
                <a:solidFill>
                  <a:srgbClr val="6B7280"/>
                </a:solidFill>
                <a:latin typeface="Montserrat"/>
              </a:rPr>
              <a:t>(n = ____)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5577840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200" b="1">
                <a:solidFill>
                  <a:srgbClr val="12314F"/>
                </a:solidFill>
                <a:latin typeface="Montserrat"/>
              </a:rPr>
              <a:t>Publicaciones excluidas, con motivos:</a:t>
            </a:r>
          </a:p>
          <a:p>
            <a:pPr algn="l"/>
            <a:r>
              <a:rPr sz="1100" b="0">
                <a:solidFill>
                  <a:srgbClr val="6B7280"/>
                </a:solidFill>
                <a:latin typeface="Montserrat"/>
              </a:rPr>
              <a:t>Motivo 1 (n = ____)</a:t>
            </a:r>
          </a:p>
          <a:p>
            <a:pPr algn="l"/>
            <a:r>
              <a:rPr sz="1100" b="0">
                <a:solidFill>
                  <a:srgbClr val="6B7280"/>
                </a:solidFill>
                <a:latin typeface="Montserrat"/>
              </a:rPr>
              <a:t>Motivo 2 (n = ____)</a:t>
            </a:r>
          </a:p>
          <a:p>
            <a:pPr algn="l"/>
            <a:r>
              <a:rPr sz="1100" b="0">
                <a:solidFill>
                  <a:srgbClr val="6B7280"/>
                </a:solidFill>
                <a:latin typeface="Montserrat"/>
              </a:rPr>
              <a:t>Motivo 3 (n = ____)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37760" y="5989320"/>
            <a:ext cx="731520" cy="0"/>
          </a:xfrm>
          <a:prstGeom prst="line">
            <a:avLst/>
          </a:prstGeom>
          <a:ln w="1587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971800" y="6400800"/>
            <a:ext cx="0" cy="457200"/>
          </a:xfrm>
          <a:prstGeom prst="line">
            <a:avLst/>
          </a:prstGeom>
          <a:ln w="1587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1005840" y="6858000"/>
            <a:ext cx="3931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200" b="1">
                <a:solidFill>
                  <a:srgbClr val="12314F"/>
                </a:solidFill>
                <a:latin typeface="Montserrat"/>
              </a:rPr>
              <a:t>Estudios incluidos en la revisión</a:t>
            </a:r>
          </a:p>
          <a:p>
            <a:pPr algn="l"/>
            <a:r>
              <a:rPr sz="1100" b="0">
                <a:solidFill>
                  <a:srgbClr val="6B7280"/>
                </a:solidFill>
                <a:latin typeface="Montserrat"/>
              </a:rPr>
              <a:t>(n = ____)</a:t>
            </a:r>
          </a:p>
          <a:p>
            <a:pPr algn="l"/>
            <a:r>
              <a:rPr sz="1100" b="0">
                <a:solidFill>
                  <a:srgbClr val="6B7280"/>
                </a:solidFill>
                <a:latin typeface="Montserrat"/>
              </a:rPr>
              <a:t>Publicaciones de los estudios incluidos (n = ____)</a:t>
            </a:r>
          </a:p>
        </p:txBody>
      </p:sp>
      <p:sp>
        <p:nvSpPr>
          <p:cNvPr id="20" name="Rectangle 19"/>
          <p:cNvSpPr/>
          <p:nvPr/>
        </p:nvSpPr>
        <p:spPr>
          <a:xfrm rot="16200000">
            <a:off x="-256032" y="1719072"/>
            <a:ext cx="1371600" cy="310896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200" b="1">
                <a:solidFill>
                  <a:srgbClr val="12314F"/>
                </a:solidFill>
                <a:latin typeface="Montserrat"/>
              </a:rPr>
              <a:t>Identificación</a:t>
            </a:r>
          </a:p>
        </p:txBody>
      </p:sp>
      <p:sp>
        <p:nvSpPr>
          <p:cNvPr id="21" name="Rectangle 20"/>
          <p:cNvSpPr/>
          <p:nvPr/>
        </p:nvSpPr>
        <p:spPr>
          <a:xfrm rot="16200000">
            <a:off x="-1261872" y="4553712"/>
            <a:ext cx="3383280" cy="310896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200" b="1">
                <a:solidFill>
                  <a:srgbClr val="12314F"/>
                </a:solidFill>
                <a:latin typeface="Montserrat"/>
              </a:rPr>
              <a:t>Cribado</a:t>
            </a:r>
          </a:p>
        </p:txBody>
      </p:sp>
      <p:sp>
        <p:nvSpPr>
          <p:cNvPr id="22" name="Rectangle 21"/>
          <p:cNvSpPr/>
          <p:nvPr/>
        </p:nvSpPr>
        <p:spPr>
          <a:xfrm rot="16200000">
            <a:off x="-27432" y="7159752"/>
            <a:ext cx="914400" cy="310896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200" b="1">
                <a:solidFill>
                  <a:srgbClr val="12314F"/>
                </a:solidFill>
                <a:latin typeface="Montserrat"/>
              </a:rPr>
              <a:t>Incluidos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6766560"/>
            <a:ext cx="3931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6B7280"/>
                </a:solidFill>
                <a:latin typeface="Montserrat"/>
              </a:rPr>
              <a:t>Nota: {{N_DUDOSOS}} pares dudosos apartados a decisión humana (conservados en el conjunto). Resuélvelos en Rayyan / tu gestor de referencias antes de fijar el número de registros cribados.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